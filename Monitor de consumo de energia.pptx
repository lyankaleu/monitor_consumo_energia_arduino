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oxima Nova Bold" charset="1" panose="02000506030000020004"/>
      <p:regular r:id="rId17"/>
    </p:embeddedFont>
    <p:embeddedFont>
      <p:font typeface="Open Sans Bold" charset="1" panose="020B0806030504020204"/>
      <p:regular r:id="rId18"/>
    </p:embeddedFont>
    <p:embeddedFont>
      <p:font typeface="Arial" charset="1" panose="020B0604020202020204"/>
      <p:regular r:id="rId19"/>
    </p:embeddedFont>
    <p:embeddedFont>
      <p:font typeface="Arial Bold" charset="1" panose="020B0704020202020204"/>
      <p:regular r:id="rId20"/>
    </p:embeddedFont>
    <p:embeddedFont>
      <p:font typeface="Proxima Nova" charset="1" panose="02000506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https://youtu.be/71RPeGoLy0k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3.jpe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jpeg" Type="http://schemas.openxmlformats.org/officeDocument/2006/relationships/image"/><Relationship Id="rId11" Target="../media/image25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73277" y="0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3" y="0"/>
                </a:lnTo>
                <a:lnTo>
                  <a:pt x="2814723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54268" y="-1028700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55361" y="4176874"/>
            <a:ext cx="12777278" cy="22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6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MONITOR DE CONSUMO  DE ENERGIA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46026" y="5384249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4" y="0"/>
                </a:lnTo>
                <a:lnTo>
                  <a:pt x="3841974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847" y="240749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8" y="0"/>
                </a:lnTo>
                <a:lnTo>
                  <a:pt x="2870338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7428" y="1189666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5" y="0"/>
                </a:lnTo>
                <a:lnTo>
                  <a:pt x="38419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69746" y="2434662"/>
            <a:ext cx="8899878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74525" y="5086350"/>
            <a:ext cx="9890320" cy="337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2874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O projeto de Monitoramento do Co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nsumo de Energia Elétrica serve para medir, analisar e exibir o uso de energia em tempo real, permitindo compreender como a eletricidade está sendo utilizada em um ambiente. Desenvolvido com o uso de Arduino, e utilizando dados reais, o sistema tem como finalidade identificar desperdícios, estimular o uso consciente e promover a eficiência energética.</a:t>
            </a:r>
          </a:p>
          <a:p>
            <a:pPr algn="just">
              <a:lnSpc>
                <a:spcPts val="193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8847" y="5554857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42411" y="968866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24771" y="5809341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98167" y="4167526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85496" y="9074616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1" y="0"/>
                </a:lnTo>
                <a:lnTo>
                  <a:pt x="4100911" y="2878094"/>
                </a:lnTo>
                <a:lnTo>
                  <a:pt x="0" y="2878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997" y="857250"/>
            <a:ext cx="13504528" cy="151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b="true" sz="87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Importância do projeto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196" y="5902701"/>
            <a:ext cx="12753474" cy="200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🏡 </a:t>
            </a: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Planejamento e gestão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Com dados precisos sobre o uso de energia, é possível planejar melhor a demanda elétrica, prever picos de consumo e evitar sobrecargas no sistema.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5196" y="3889841"/>
            <a:ext cx="11205509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🌱 </a:t>
            </a:r>
            <a:r>
              <a:rPr lang="en-US" sz="2599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Consciência e sustentabilidade ambiental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Projetos que monitoram e analisam o consumo de energia ajudam a reduzir o desperdício e promovem o uso consciente dos recursos naturais.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96" y="8066953"/>
            <a:ext cx="12153418" cy="200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💰 </a:t>
            </a: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Redução de custo</a:t>
            </a: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Ao identificar onde e como a energia está sendo mais utilizada, é possível corrigir desperdícios e melhorar a eficiência energética.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40830" y="5473414"/>
            <a:ext cx="7607678" cy="4813586"/>
          </a:xfrm>
          <a:custGeom>
            <a:avLst/>
            <a:gdLst/>
            <a:ahLst/>
            <a:cxnLst/>
            <a:rect r="r" b="b" t="t" l="l"/>
            <a:pathLst>
              <a:path h="4813586" w="7607678">
                <a:moveTo>
                  <a:pt x="0" y="0"/>
                </a:moveTo>
                <a:lnTo>
                  <a:pt x="7607678" y="0"/>
                </a:lnTo>
                <a:lnTo>
                  <a:pt x="7607678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80552" y="1711295"/>
            <a:ext cx="2638808" cy="4256141"/>
          </a:xfrm>
          <a:custGeom>
            <a:avLst/>
            <a:gdLst/>
            <a:ahLst/>
            <a:cxnLst/>
            <a:rect r="r" b="b" t="t" l="l"/>
            <a:pathLst>
              <a:path h="4256141" w="2638808">
                <a:moveTo>
                  <a:pt x="0" y="0"/>
                </a:moveTo>
                <a:lnTo>
                  <a:pt x="2638808" y="0"/>
                </a:lnTo>
                <a:lnTo>
                  <a:pt x="2638808" y="4256141"/>
                </a:lnTo>
                <a:lnTo>
                  <a:pt x="0" y="4256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37325" y="981808"/>
            <a:ext cx="2580249" cy="4161692"/>
          </a:xfrm>
          <a:custGeom>
            <a:avLst/>
            <a:gdLst/>
            <a:ahLst/>
            <a:cxnLst/>
            <a:rect r="r" b="b" t="t" l="l"/>
            <a:pathLst>
              <a:path h="4161692" w="2580249">
                <a:moveTo>
                  <a:pt x="0" y="0"/>
                </a:moveTo>
                <a:lnTo>
                  <a:pt x="2580249" y="0"/>
                </a:lnTo>
                <a:lnTo>
                  <a:pt x="2580249" y="4161692"/>
                </a:lnTo>
                <a:lnTo>
                  <a:pt x="0" y="416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8276" y="918593"/>
            <a:ext cx="12299596" cy="303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3"/>
              </a:lnSpc>
            </a:pPr>
            <a:r>
              <a:rPr lang="en-US" sz="8799" spc="-554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Impactos e Aplicações</a:t>
            </a:r>
          </a:p>
          <a:p>
            <a:pPr algn="l">
              <a:lnSpc>
                <a:spcPts val="7743"/>
              </a:lnSpc>
            </a:pPr>
          </a:p>
          <a:p>
            <a:pPr algn="l">
              <a:lnSpc>
                <a:spcPts val="77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8276" y="2795534"/>
            <a:ext cx="9144000" cy="203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🏠 Uso reside</a:t>
            </a:r>
            <a:r>
              <a:rPr lang="en-US" b="true" sz="25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ncial: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C0140"/>
                </a:solidFill>
                <a:latin typeface="Arial Bold"/>
                <a:ea typeface="Arial Bold"/>
                <a:cs typeface="Arial Bold"/>
                <a:sym typeface="Arial Bold"/>
              </a:rPr>
              <a:t>    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Pode ser aplicado em casas para acompanhar o consumo de energia e ajudar os moradores a identificar aparelhos que gastam mais, incentivando a economia doméstica.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276" y="5211230"/>
            <a:ext cx="9144000" cy="20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🏫 Ambientes educacionais: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Serve como ferramenta de e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nsino e aprendizado prático, permitindo que estudantes compreendam na prática conceitos de eletrônica, programação e sustentabilidade.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276" y="7498498"/>
            <a:ext cx="9412276" cy="203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🏢 Peque</a:t>
            </a:r>
            <a:r>
              <a:rPr lang="en-US" b="true" sz="25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nas empresas e comércios: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Facilita o controle do consumo elétrico em equipamentos e setores, auxiliando na redução de custos operacionais e na eficiência energética.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9633" y="3635682"/>
            <a:ext cx="5985198" cy="4381812"/>
          </a:xfrm>
          <a:custGeom>
            <a:avLst/>
            <a:gdLst/>
            <a:ahLst/>
            <a:cxnLst/>
            <a:rect r="r" b="b" t="t" l="l"/>
            <a:pathLst>
              <a:path h="4381812" w="5985198">
                <a:moveTo>
                  <a:pt x="0" y="0"/>
                </a:moveTo>
                <a:lnTo>
                  <a:pt x="5985199" y="0"/>
                </a:lnTo>
                <a:lnTo>
                  <a:pt x="5985199" y="4381812"/>
                </a:lnTo>
                <a:lnTo>
                  <a:pt x="0" y="4381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443"/>
            </a:stretch>
          </a:blipFill>
          <a:ln w="38100" cap="sq">
            <a:solidFill>
              <a:srgbClr val="1C014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095153" y="3414533"/>
            <a:ext cx="2713562" cy="4824111"/>
          </a:xfrm>
          <a:custGeom>
            <a:avLst/>
            <a:gdLst/>
            <a:ahLst/>
            <a:cxnLst/>
            <a:rect r="r" b="b" t="t" l="l"/>
            <a:pathLst>
              <a:path h="4824111" w="2713562">
                <a:moveTo>
                  <a:pt x="0" y="0"/>
                </a:moveTo>
                <a:lnTo>
                  <a:pt x="2713562" y="0"/>
                </a:lnTo>
                <a:lnTo>
                  <a:pt x="2713562" y="4824110"/>
                </a:lnTo>
                <a:lnTo>
                  <a:pt x="0" y="4824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1C014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819450" y="944526"/>
            <a:ext cx="14831758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Componentes Utilizados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80658"/>
            <a:ext cx="7527875" cy="437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Arduino Uno (microcontrolador principal)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4 led’s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4 push buttons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Buzzer para simular alto-falante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Potenciômetro para ajustar o contraste do display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Display LCD 16x2 para exibição dos dados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Resistores e jumpers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Protoboard para montagem do circuito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Fonte de alimentação</a:t>
            </a:r>
          </a:p>
          <a:p>
            <a:pPr algn="l">
              <a:lnSpc>
                <a:spcPts val="351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045" y="5143500"/>
            <a:ext cx="5570294" cy="4616381"/>
          </a:xfrm>
          <a:custGeom>
            <a:avLst/>
            <a:gdLst/>
            <a:ahLst/>
            <a:cxnLst/>
            <a:rect r="r" b="b" t="t" l="l"/>
            <a:pathLst>
              <a:path h="4616381" w="5570294">
                <a:moveTo>
                  <a:pt x="0" y="0"/>
                </a:moveTo>
                <a:lnTo>
                  <a:pt x="5570294" y="0"/>
                </a:lnTo>
                <a:lnTo>
                  <a:pt x="5570294" y="4616381"/>
                </a:lnTo>
                <a:lnTo>
                  <a:pt x="0" y="4616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0" cap="sq">
            <a:solidFill>
              <a:srgbClr val="1C014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7045" y="519814"/>
            <a:ext cx="5570294" cy="4177720"/>
          </a:xfrm>
          <a:custGeom>
            <a:avLst/>
            <a:gdLst/>
            <a:ahLst/>
            <a:cxnLst/>
            <a:rect r="r" b="b" t="t" l="l"/>
            <a:pathLst>
              <a:path h="4177720" w="5570294">
                <a:moveTo>
                  <a:pt x="0" y="0"/>
                </a:moveTo>
                <a:lnTo>
                  <a:pt x="5570294" y="0"/>
                </a:lnTo>
                <a:lnTo>
                  <a:pt x="5570294" y="4177720"/>
                </a:lnTo>
                <a:lnTo>
                  <a:pt x="0" y="4177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0" cap="sq">
            <a:solidFill>
              <a:srgbClr val="1C014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7204213" y="2191408"/>
            <a:ext cx="10249093" cy="26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Como funciona?</a:t>
            </a:r>
          </a:p>
          <a:p>
            <a:pPr algn="just">
              <a:lnSpc>
                <a:spcPts val="1013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38577" y="4207537"/>
            <a:ext cx="10380364" cy="588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 O Arduino atua como o cérebro do projeto, ele calcula os dados fornecidos pelo o sistema e simula uso de eletrodomésticos em cenário real. A partir dessas informações, ele realiza os cálculos necessários para determinar o consumo de energia elétrica, transformando os valores em dados compreensíveis.</a:t>
            </a:r>
          </a:p>
          <a:p>
            <a:pPr algn="just">
              <a:lnSpc>
                <a:spcPts val="154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Esses resultados são então exibidos no display LCD, onde o usuário pode acompanhar de maneira clara o gasto instantâneo e o total acumulado de energia. Dessa forma, o projeto possibilita uma visualização prática e interativa do consumo elétrico, facilitando o entendimento sobre como a energia está sendo utilizada.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C0140"/>
                </a:solidFill>
                <a:latin typeface="Arial Bold"/>
                <a:ea typeface="Arial Bold"/>
                <a:cs typeface="Arial Bold"/>
                <a:sym typeface="Arial Bold"/>
              </a:rPr>
              <a:t>Vídeo de demonstração: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2499" u="sng">
                <a:solidFill>
                  <a:srgbClr val="1C0140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youtu.be/71RPeGoLy0k"/>
              </a:rPr>
              <a:t>https://youtu.be/71RPeGoLy0k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7624" y="492240"/>
            <a:ext cx="9497253" cy="9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54"/>
              </a:lnSpc>
            </a:pPr>
            <a:r>
              <a:rPr lang="en-US" b="true" sz="7789" spc="-49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Resultados alcançados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00587" y="-281060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00587" y="7703353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73503" y="3134857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65157" y="1761098"/>
            <a:ext cx="11362186" cy="6263405"/>
          </a:xfrm>
          <a:custGeom>
            <a:avLst/>
            <a:gdLst/>
            <a:ahLst/>
            <a:cxnLst/>
            <a:rect r="r" b="b" t="t" l="l"/>
            <a:pathLst>
              <a:path h="6263405" w="11362186">
                <a:moveTo>
                  <a:pt x="0" y="0"/>
                </a:moveTo>
                <a:lnTo>
                  <a:pt x="11362186" y="0"/>
                </a:lnTo>
                <a:lnTo>
                  <a:pt x="11362186" y="6263405"/>
                </a:lnTo>
                <a:lnTo>
                  <a:pt x="0" y="626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41123" y="8300728"/>
            <a:ext cx="9410254" cy="45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  <a:spcBef>
                <a:spcPct val="0"/>
              </a:spcBef>
            </a:pPr>
            <a:r>
              <a:rPr lang="en-US" b="true" sz="2686" spc="-1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Fonte: </a:t>
            </a:r>
            <a:r>
              <a:rPr lang="en-US" sz="2686" spc="-1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Googl</a:t>
            </a:r>
            <a:r>
              <a:rPr lang="en-US" sz="2686" spc="-1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 Colab – dados obtidos da simulação do protótipo Arduino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39607" y="419655"/>
            <a:ext cx="1983768" cy="3199626"/>
          </a:xfrm>
          <a:custGeom>
            <a:avLst/>
            <a:gdLst/>
            <a:ahLst/>
            <a:cxnLst/>
            <a:rect r="r" b="b" t="t" l="l"/>
            <a:pathLst>
              <a:path h="3199626" w="1983768">
                <a:moveTo>
                  <a:pt x="0" y="0"/>
                </a:moveTo>
                <a:lnTo>
                  <a:pt x="1983768" y="0"/>
                </a:lnTo>
                <a:lnTo>
                  <a:pt x="1983768" y="3199625"/>
                </a:lnTo>
                <a:lnTo>
                  <a:pt x="0" y="3199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7624" y="492240"/>
            <a:ext cx="9497253" cy="94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54"/>
              </a:lnSpc>
            </a:pPr>
            <a:r>
              <a:rPr lang="en-US" b="true" sz="7789" spc="-49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Resultados alcançados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7923" y="-125714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00587" y="-281060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00587" y="7703353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73503" y="3134857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19744" y="3134857"/>
            <a:ext cx="6305335" cy="5962268"/>
          </a:xfrm>
          <a:custGeom>
            <a:avLst/>
            <a:gdLst/>
            <a:ahLst/>
            <a:cxnLst/>
            <a:rect r="r" b="b" t="t" l="l"/>
            <a:pathLst>
              <a:path h="5962268" w="6305335">
                <a:moveTo>
                  <a:pt x="0" y="0"/>
                </a:moveTo>
                <a:lnTo>
                  <a:pt x="6305335" y="0"/>
                </a:lnTo>
                <a:lnTo>
                  <a:pt x="6305335" y="5962268"/>
                </a:lnTo>
                <a:lnTo>
                  <a:pt x="0" y="5962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3111" y="3134857"/>
            <a:ext cx="7547862" cy="5962268"/>
          </a:xfrm>
          <a:custGeom>
            <a:avLst/>
            <a:gdLst/>
            <a:ahLst/>
            <a:cxnLst/>
            <a:rect r="r" b="b" t="t" l="l"/>
            <a:pathLst>
              <a:path h="5962268" w="7547862">
                <a:moveTo>
                  <a:pt x="0" y="0"/>
                </a:moveTo>
                <a:lnTo>
                  <a:pt x="7547862" y="0"/>
                </a:lnTo>
                <a:lnTo>
                  <a:pt x="7547862" y="5962268"/>
                </a:lnTo>
                <a:lnTo>
                  <a:pt x="0" y="59622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44722" y="9210675"/>
            <a:ext cx="9476780" cy="45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  <a:spcBef>
                <a:spcPct val="0"/>
              </a:spcBef>
            </a:pPr>
            <a:r>
              <a:rPr lang="en-US" b="true" sz="2686" spc="-1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Fonte: </a:t>
            </a:r>
            <a:r>
              <a:rPr lang="en-US" sz="2686" spc="-1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Googl</a:t>
            </a:r>
            <a:r>
              <a:rPr lang="en-US" sz="2686" spc="-1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 Colab – dados obtidos da simulação do protótipo Arduino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59927" y="1029383"/>
            <a:ext cx="10647528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Custos do Projeto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615544" y="2440262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93827" y="3718733"/>
            <a:ext cx="945118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</a:t>
            </a: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ncipais materiais utilizados: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Arduino Uno: aproximadamente R$ 60,00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Display LCD 16x2: cerca de R$ 30,00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Protoboard e jumpers: em torno de R$ 20,00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Resistores, fios e fonte de energia: aproximadamente R$ 15,00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Outros itens diversos: R$ 10,00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22563" y="6525081"/>
            <a:ext cx="8010065" cy="431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C014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499">
                <a:solidFill>
                  <a:srgbClr val="1C0140"/>
                </a:solidFill>
                <a:latin typeface="Arial Bold"/>
                <a:ea typeface="Arial Bold"/>
                <a:cs typeface="Arial Bold"/>
                <a:sym typeface="Arial Bold"/>
              </a:rPr>
              <a:t>Custo total estimado: 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cerca de R$ 130,00 a R$ 150,00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2563" y="7295821"/>
            <a:ext cx="9322255" cy="130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Mesmo com i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nvestimento baixo, o sistema oferece resultados significativos, como monitoramento preciso, aprendizado prático e redução de desperdícios.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2149863" y="0"/>
            <a:ext cx="2580249" cy="4161692"/>
          </a:xfrm>
          <a:custGeom>
            <a:avLst/>
            <a:gdLst/>
            <a:ahLst/>
            <a:cxnLst/>
            <a:rect r="r" b="b" t="t" l="l"/>
            <a:pathLst>
              <a:path h="4161692" w="2580249">
                <a:moveTo>
                  <a:pt x="2580249" y="0"/>
                </a:moveTo>
                <a:lnTo>
                  <a:pt x="0" y="0"/>
                </a:lnTo>
                <a:lnTo>
                  <a:pt x="0" y="4161692"/>
                </a:lnTo>
                <a:lnTo>
                  <a:pt x="2580249" y="4161692"/>
                </a:lnTo>
                <a:lnTo>
                  <a:pt x="25802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50331" y="7352971"/>
            <a:ext cx="5600387" cy="3543518"/>
          </a:xfrm>
          <a:custGeom>
            <a:avLst/>
            <a:gdLst/>
            <a:ahLst/>
            <a:cxnLst/>
            <a:rect r="r" b="b" t="t" l="l"/>
            <a:pathLst>
              <a:path h="3543518" w="5600387">
                <a:moveTo>
                  <a:pt x="0" y="0"/>
                </a:moveTo>
                <a:lnTo>
                  <a:pt x="5600387" y="0"/>
                </a:lnTo>
                <a:lnTo>
                  <a:pt x="5600387" y="3543518"/>
                </a:lnTo>
                <a:lnTo>
                  <a:pt x="0" y="3543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41632" y="1371600"/>
            <a:ext cx="9038063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Conclusão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1338" y="1393444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8" y="0"/>
                </a:lnTo>
                <a:lnTo>
                  <a:pt x="2870338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87315" y="1028700"/>
            <a:ext cx="1832956" cy="2057400"/>
          </a:xfrm>
          <a:custGeom>
            <a:avLst/>
            <a:gdLst/>
            <a:ahLst/>
            <a:cxnLst/>
            <a:rect r="r" b="b" t="t" l="l"/>
            <a:pathLst>
              <a:path h="2057400" w="1832956">
                <a:moveTo>
                  <a:pt x="0" y="0"/>
                </a:moveTo>
                <a:lnTo>
                  <a:pt x="1832956" y="0"/>
                </a:lnTo>
                <a:lnTo>
                  <a:pt x="183295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46121" y="4523427"/>
            <a:ext cx="13107045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 O projeto de Monitoramento de Co</a:t>
            </a: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nsumo de Energia Elétrica com Arduino demonstrou ser uma solução prática, educativa e sustentável, capaz de unir tecnologia, aprendizado e consciência ambiental.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C0140"/>
                </a:solidFill>
                <a:latin typeface="Arial"/>
                <a:ea typeface="Arial"/>
                <a:cs typeface="Arial"/>
                <a:sym typeface="Arial"/>
              </a:rPr>
              <a:t>   Além dos resultados obtidos, o projeto apresenta amplo potencial de expansão, podendo ser aprimorado com tecnologias de Internet das Coisas (IoT), armazenamento em nuvem, interface web e monitoramento remoto. Essas melhorias podem transformar o protótipo em um sistema completo de gestão energética, útil para residências, escolas e empresas, contribuindo ainda mais para a sustentabilidade e inovação tecnológica.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6838" y="7216500"/>
            <a:ext cx="4479745" cy="2834457"/>
          </a:xfrm>
          <a:custGeom>
            <a:avLst/>
            <a:gdLst/>
            <a:ahLst/>
            <a:cxnLst/>
            <a:rect r="r" b="b" t="t" l="l"/>
            <a:pathLst>
              <a:path h="2834457" w="4479745">
                <a:moveTo>
                  <a:pt x="0" y="0"/>
                </a:moveTo>
                <a:lnTo>
                  <a:pt x="4479745" y="0"/>
                </a:lnTo>
                <a:lnTo>
                  <a:pt x="4479745" y="2834457"/>
                </a:lnTo>
                <a:lnTo>
                  <a:pt x="0" y="2834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6315" y="7717946"/>
            <a:ext cx="7717685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Obrigado!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12772" y="8251110"/>
            <a:ext cx="7607678" cy="4813586"/>
          </a:xfrm>
          <a:custGeom>
            <a:avLst/>
            <a:gdLst/>
            <a:ahLst/>
            <a:cxnLst/>
            <a:rect r="r" b="b" t="t" l="l"/>
            <a:pathLst>
              <a:path h="4813586" w="7607678">
                <a:moveTo>
                  <a:pt x="0" y="0"/>
                </a:moveTo>
                <a:lnTo>
                  <a:pt x="7607679" y="0"/>
                </a:lnTo>
                <a:lnTo>
                  <a:pt x="7607679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1933" y="4146056"/>
            <a:ext cx="3292727" cy="5310849"/>
          </a:xfrm>
          <a:custGeom>
            <a:avLst/>
            <a:gdLst/>
            <a:ahLst/>
            <a:cxnLst/>
            <a:rect r="r" b="b" t="t" l="l"/>
            <a:pathLst>
              <a:path h="5310849" w="3292727">
                <a:moveTo>
                  <a:pt x="0" y="0"/>
                </a:moveTo>
                <a:lnTo>
                  <a:pt x="3292727" y="0"/>
                </a:lnTo>
                <a:lnTo>
                  <a:pt x="3292727" y="5310849"/>
                </a:lnTo>
                <a:lnTo>
                  <a:pt x="0" y="5310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79773" y="6145918"/>
            <a:ext cx="3168214" cy="4813586"/>
          </a:xfrm>
          <a:custGeom>
            <a:avLst/>
            <a:gdLst/>
            <a:ahLst/>
            <a:cxnLst/>
            <a:rect r="r" b="b" t="t" l="l"/>
            <a:pathLst>
              <a:path h="4813586" w="3168214">
                <a:moveTo>
                  <a:pt x="0" y="0"/>
                </a:moveTo>
                <a:lnTo>
                  <a:pt x="3168214" y="0"/>
                </a:lnTo>
                <a:lnTo>
                  <a:pt x="3168214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98661" y="1432573"/>
            <a:ext cx="2984423" cy="4813586"/>
          </a:xfrm>
          <a:custGeom>
            <a:avLst/>
            <a:gdLst/>
            <a:ahLst/>
            <a:cxnLst/>
            <a:rect r="r" b="b" t="t" l="l"/>
            <a:pathLst>
              <a:path h="4813586" w="2984423">
                <a:moveTo>
                  <a:pt x="0" y="0"/>
                </a:moveTo>
                <a:lnTo>
                  <a:pt x="2984423" y="0"/>
                </a:lnTo>
                <a:lnTo>
                  <a:pt x="2984423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81933" y="541097"/>
            <a:ext cx="1523200" cy="3298268"/>
          </a:xfrm>
          <a:custGeom>
            <a:avLst/>
            <a:gdLst/>
            <a:ahLst/>
            <a:cxnLst/>
            <a:rect r="r" b="b" t="t" l="l"/>
            <a:pathLst>
              <a:path h="3298268" w="1523200">
                <a:moveTo>
                  <a:pt x="0" y="0"/>
                </a:moveTo>
                <a:lnTo>
                  <a:pt x="1523200" y="0"/>
                </a:lnTo>
                <a:lnTo>
                  <a:pt x="1523200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9662" y="4356453"/>
            <a:ext cx="1477446" cy="3199194"/>
          </a:xfrm>
          <a:custGeom>
            <a:avLst/>
            <a:gdLst/>
            <a:ahLst/>
            <a:cxnLst/>
            <a:rect r="r" b="b" t="t" l="l"/>
            <a:pathLst>
              <a:path h="3199194" w="1477446">
                <a:moveTo>
                  <a:pt x="0" y="0"/>
                </a:moveTo>
                <a:lnTo>
                  <a:pt x="1477446" y="0"/>
                </a:lnTo>
                <a:lnTo>
                  <a:pt x="1477446" y="3199195"/>
                </a:lnTo>
                <a:lnTo>
                  <a:pt x="0" y="31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74660" y="-787980"/>
            <a:ext cx="2884906" cy="3238159"/>
          </a:xfrm>
          <a:custGeom>
            <a:avLst/>
            <a:gdLst/>
            <a:ahLst/>
            <a:cxnLst/>
            <a:rect r="r" b="b" t="t" l="l"/>
            <a:pathLst>
              <a:path h="3238159" w="2884906">
                <a:moveTo>
                  <a:pt x="0" y="0"/>
                </a:moveTo>
                <a:lnTo>
                  <a:pt x="2884905" y="0"/>
                </a:lnTo>
                <a:lnTo>
                  <a:pt x="2884905" y="3238159"/>
                </a:lnTo>
                <a:lnTo>
                  <a:pt x="0" y="3238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6315" y="1623892"/>
            <a:ext cx="8046506" cy="85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6948" spc="-437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Participantes do Grupo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6552" y="3375242"/>
            <a:ext cx="14020512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Carlos Vi</a:t>
            </a: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nicius Sousa Gonçalves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Eduardo Bandeira dos Santos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Felipe Silva Carvalho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Francisco das Chagas Sales Neto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José Henrique de Araújo Picoli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Lyan Kaleu Meneses de Sousa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C01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Rodrigo Henrique Saraiva dos Reis Araújo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DAG4OeRsLMo</dc:identifier>
  <dcterms:modified xsi:type="dcterms:W3CDTF">2011-08-01T06:04:30Z</dcterms:modified>
  <cp:revision>1</cp:revision>
  <dc:title>Light Blue and Dark Blue Illustration Technology Startup Presentation</dc:title>
</cp:coreProperties>
</file>